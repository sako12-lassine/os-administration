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/>
            </a:pPr>
            <a:r>
              <a:t>Лабораторная работа №1</a:t>
            </a:r>
          </a:p>
          <a:p>
            <a:pPr algn="ctr">
              <a:defRPr sz="2600"/>
            </a:pPr>
            <a:r>
              <a:t>Установка и конфигурация операционной системы</a:t>
            </a:r>
            <a:br/>
            <a:r>
              <a:t>на виртуальную машину</a:t>
            </a:r>
          </a:p>
          <a:p>
            <a:br/>
            <a:pPr algn="ctr">
              <a:defRPr sz="2200"/>
            </a:pPr>
            <a:r>
              <a:t>САКО ЛАССИНЕ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Цель и задача работы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Получить практические навыки установки Linux на виртуальную машину.</a:t>
            </a:r>
          </a:p>
          <a:p>
            <a:pPr>
              <a:spcAft>
                <a:spcPts val="1200"/>
              </a:spcAft>
              <a:defRPr sz="2200"/>
            </a:pPr>
            <a:r>
              <a:t>Установить и настроить Rocky Linux.</a:t>
            </a:r>
          </a:p>
          <a:p>
            <a:pPr>
              <a:spcAft>
                <a:spcPts val="1200"/>
              </a:spcAft>
              <a:defRPr sz="2200"/>
            </a:pPr>
            <a:r>
              <a:t>Проанализировать последовательность загрузки системы с помощью команды dmesg.</a:t>
            </a:r>
          </a:p>
          <a:p>
            <a:pPr>
              <a:spcAft>
                <a:spcPts val="1200"/>
              </a:spcAft>
              <a:defRPr sz="2200"/>
            </a:pPr>
            <a:r>
              <a:t>Получить информацию о ядре, процессоре, памяти и файловых системах.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Создание виртуальной машины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4846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Гипервизор: Oracle VirtualBox</a:t>
            </a:r>
          </a:p>
          <a:p>
            <a:pPr>
              <a:spcAft>
                <a:spcPts val="1200"/>
              </a:spcAft>
              <a:defRPr sz="2000"/>
            </a:pPr>
            <a:r>
              <a:t>Имя виртуальной машины: sackolassine</a:t>
            </a:r>
          </a:p>
          <a:p>
            <a:pPr>
              <a:spcAft>
                <a:spcPts val="1200"/>
              </a:spcAft>
              <a:defRPr sz="2000"/>
            </a:pPr>
            <a:r>
              <a:t>Оперативная память: 2048 МБ</a:t>
            </a:r>
          </a:p>
          <a:p>
            <a:pPr>
              <a:spcAft>
                <a:spcPts val="1200"/>
              </a:spcAft>
              <a:defRPr sz="2000"/>
            </a:pPr>
            <a:r>
              <a:t>Процессоры: 2</a:t>
            </a:r>
          </a:p>
          <a:p>
            <a:pPr>
              <a:spcAft>
                <a:spcPts val="1200"/>
              </a:spcAft>
              <a:defRPr sz="2000"/>
            </a:pPr>
            <a:r>
              <a:t>Диск: 40 ГБ</a:t>
            </a:r>
          </a:p>
          <a:p>
            <a:pPr>
              <a:spcAft>
                <a:spcPts val="1200"/>
              </a:spcAft>
              <a:defRPr sz="2000"/>
            </a:pPr>
            <a:r>
              <a:t>Сеть: NAT</a:t>
            </a:r>
          </a:p>
        </p:txBody>
      </p:sp>
      <p:pic>
        <p:nvPicPr>
          <p:cNvPr id="4" name="Picture 3" descr="01_Configuration_V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234440"/>
            <a:ext cx="5943600" cy="336151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Установка и настройка Rocky Linux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ОС: Rocky Linux 10.2</a:t>
            </a:r>
          </a:p>
          <a:p>
            <a:pPr>
              <a:spcAft>
                <a:spcPts val="1200"/>
              </a:spcAft>
              <a:defRPr sz="1800"/>
            </a:pPr>
            <a:r>
              <a:t>Интерфейс установки: English</a:t>
            </a:r>
          </a:p>
          <a:p>
            <a:pPr>
              <a:spcAft>
                <a:spcPts val="1200"/>
              </a:spcAft>
              <a:defRPr sz="1800"/>
            </a:pPr>
            <a:r>
              <a:t>Клавиатура: English + Russian</a:t>
            </a:r>
          </a:p>
          <a:p>
            <a:pPr>
              <a:spcAft>
                <a:spcPts val="1200"/>
              </a:spcAft>
              <a:defRPr sz="1800"/>
            </a:pPr>
            <a:r>
              <a:t>Среда: Server with GUI</a:t>
            </a:r>
          </a:p>
          <a:p>
            <a:pPr>
              <a:spcAft>
                <a:spcPts val="1200"/>
              </a:spcAft>
              <a:defRPr sz="1800"/>
            </a:pPr>
            <a:r>
              <a:t>Дополнительное ПО: Development Tools</a:t>
            </a:r>
          </a:p>
          <a:p>
            <a:pPr>
              <a:spcAft>
                <a:spcPts val="1200"/>
              </a:spcAft>
              <a:defRPr sz="1800"/>
            </a:pPr>
            <a:r>
              <a:t>KDUMP отключён</a:t>
            </a:r>
          </a:p>
          <a:p>
            <a:pPr>
              <a:spcAft>
                <a:spcPts val="1200"/>
              </a:spcAft>
              <a:defRPr sz="1800"/>
            </a:pPr>
            <a:r>
              <a:t>Сеть включена</a:t>
            </a:r>
          </a:p>
          <a:p>
            <a:pPr>
              <a:spcAft>
                <a:spcPts val="1200"/>
              </a:spcAft>
              <a:defRPr sz="1800"/>
            </a:pPr>
            <a:r>
              <a:t>Hostname: sackolassine.localdomain</a:t>
            </a:r>
          </a:p>
          <a:p>
            <a:pPr>
              <a:spcAft>
                <a:spcPts val="1200"/>
              </a:spcAft>
              <a:defRPr sz="1800"/>
            </a:pPr>
            <a:r>
              <a:t>Пользователь: sackolassine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Анализ загрузки системы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Для анализа загрузки использована команда:</a:t>
            </a:r>
          </a:p>
          <a:p>
            <a:pPr>
              <a:spcAft>
                <a:spcPts val="1200"/>
              </a:spcAft>
              <a:defRPr sz="1800"/>
            </a:pPr>
            <a:r>
              <a:t>dmesg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С помощью вывода команды получена информация о:</a:t>
            </a:r>
          </a:p>
          <a:p>
            <a:pPr>
              <a:spcAft>
                <a:spcPts val="1200"/>
              </a:spcAft>
              <a:defRPr sz="1800"/>
            </a:pPr>
            <a:r>
              <a:t>• версии ядра;</a:t>
            </a:r>
          </a:p>
          <a:p>
            <a:pPr>
              <a:spcAft>
                <a:spcPts val="1200"/>
              </a:spcAft>
              <a:defRPr sz="1800"/>
            </a:pPr>
            <a:r>
              <a:t>• процессоре и его частоте;</a:t>
            </a:r>
          </a:p>
          <a:p>
            <a:pPr>
              <a:spcAft>
                <a:spcPts val="1200"/>
              </a:spcAft>
              <a:defRPr sz="1800"/>
            </a:pPr>
            <a:r>
              <a:t>• доступной оперативной памяти;</a:t>
            </a:r>
          </a:p>
          <a:p>
            <a:pPr>
              <a:spcAft>
                <a:spcPts val="1200"/>
              </a:spcAft>
              <a:defRPr sz="1800"/>
            </a:pPr>
            <a:r>
              <a:t>• гипервизоре;</a:t>
            </a:r>
          </a:p>
          <a:p>
            <a:pPr>
              <a:spcAft>
                <a:spcPts val="1200"/>
              </a:spcAft>
              <a:defRPr sz="1800"/>
            </a:pPr>
            <a:r>
              <a:t>• файловой системе корневого раздела;</a:t>
            </a:r>
          </a:p>
          <a:p>
            <a:pPr>
              <a:spcAft>
                <a:spcPts val="1200"/>
              </a:spcAft>
              <a:defRPr sz="1800"/>
            </a:pPr>
            <a:r>
              <a:t>• последовательности монтирования файловых систем.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Полученные результаты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25880"/>
          <a:ext cx="1033272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6675120"/>
              </a:tblGrid>
              <a:tr h="56007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Параметр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Результат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Версия ядра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6.12.0-211.16.1.el10_2.0.1.x86_64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Модель 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Intel(R) Core(TM) i5-9300H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Частота 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2.40 GHz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Доступная 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1940568K / 2096696K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Гипервизор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KVM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Root filesystem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XFS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Монтирование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Mounting / Mounted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Подтверждение результатов</a:t>
            </a:r>
          </a:p>
        </p:txBody>
      </p:sp>
      <p:pic>
        <p:nvPicPr>
          <p:cNvPr id="3" name="Picture 2" descr="02_Version_noya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3566160" cy="1087981"/>
          </a:xfrm>
          <a:prstGeom prst="rect">
            <a:avLst/>
          </a:prstGeom>
        </p:spPr>
      </p:pic>
      <p:pic>
        <p:nvPicPr>
          <p:cNvPr id="4" name="Picture 3" descr="03_CP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188720"/>
            <a:ext cx="3566160" cy="533823"/>
          </a:xfrm>
          <a:prstGeom prst="rect">
            <a:avLst/>
          </a:prstGeom>
        </p:spPr>
      </p:pic>
      <p:pic>
        <p:nvPicPr>
          <p:cNvPr id="5" name="Picture 4" descr="04_Hyperviseu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188720"/>
            <a:ext cx="3566160" cy="533823"/>
          </a:xfrm>
          <a:prstGeom prst="rect">
            <a:avLst/>
          </a:prstGeom>
        </p:spPr>
      </p:pic>
      <p:pic>
        <p:nvPicPr>
          <p:cNvPr id="6" name="Picture 5" descr="05_Systeme_fichi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794760"/>
            <a:ext cx="3566160" cy="1231946"/>
          </a:xfrm>
          <a:prstGeom prst="rect">
            <a:avLst/>
          </a:prstGeom>
        </p:spPr>
      </p:pic>
      <p:pic>
        <p:nvPicPr>
          <p:cNvPr id="7" name="Picture 6" descr="06_Montage_systemes_fichi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1960" y="3794760"/>
            <a:ext cx="3566160" cy="2776664"/>
          </a:xfrm>
          <a:prstGeom prst="rect">
            <a:avLst/>
          </a:prstGeom>
        </p:spPr>
      </p:pic>
      <p:pic>
        <p:nvPicPr>
          <p:cNvPr id="8" name="Picture 7" descr="07_Memoire_RA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3794760"/>
            <a:ext cx="3566160" cy="63855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Вывод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/>
            </a:pPr>
            <a:r>
              <a:t>Rocky Linux 10.2 установлен и настроен на виртуальной машине Oracle VirtualBox.</a:t>
            </a:r>
          </a:p>
          <a:p>
            <a:pPr>
              <a:spcAft>
                <a:spcPts val="1200"/>
              </a:spcAft>
              <a:defRPr sz="2200"/>
            </a:pPr>
            <a:r>
              <a:t>Создан пользователь sackolassine и настроено имя компьютера.</a:t>
            </a:r>
          </a:p>
          <a:p>
            <a:pPr>
              <a:spcAft>
                <a:spcPts val="1200"/>
              </a:spcAft>
              <a:defRPr sz="2200"/>
            </a:pPr>
            <a:r>
              <a:t>С помощью dmesg выполнен анализ загрузки системы.</a:t>
            </a:r>
          </a:p>
          <a:p>
            <a:pPr>
              <a:spcAft>
                <a:spcPts val="1200"/>
              </a:spcAft>
              <a:defRPr sz="2200"/>
            </a:pPr>
            <a:r>
              <a:t>Получены основные характеристики ядра, процессора, памяти, гипервизора и файловой системы.</a:t>
            </a:r>
          </a:p>
          <a:p>
            <a:pPr>
              <a:spcAft>
                <a:spcPts val="1200"/>
              </a:spcAft>
              <a:defRPr sz="2200"/>
            </a:pPr>
            <a:r>
              <a:t>Лабораторная работа выполнена.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